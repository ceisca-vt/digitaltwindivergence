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300000"/>
            <a:ext cx="8229600" cy="700000"/>
          </a:xfrm>
        </p:spPr>
        <p:txBody>
          <a:bodyPr/>
          <a:lstStyle/>
          <a:p>
            <a:r>
              <a:rPr lang="en-US" sz="3600" b="1">
                <a:solidFill>
                  <a:srgbClr val="1F2937"/>
                </a:solidFill>
              </a:rPr>
              <a:t>Intro</a:t>
            </a:r>
          </a:p>
        </p:txBody>
      </p:sp>
      <p:sp>
        <p:nvSpPr>
          <p:cNvPr id="3" name="Content 1"/>
          <p:cNvSpPr/>
          <p:nvPr/>
        </p:nvSpPr>
        <p:spPr>
          <a:xfrm>
            <a:off x="700000" y="1250000"/>
            <a:ext cx="7700000" cy="5000000"/>
          </a:xfrm>
        </p:spPr>
        <p:txBody>
          <a:bodyPr wrap="square"/>
          <a:lstStyle/>
          <a:p>
            <a:pPr marL="342900" indent="-171450">
              <a:buChar char="?"/>
              <a:defRPr sz="2400"/>
            </a:pPr>
            <a:r>
              <a:rPr lang="en-US" sz="2400"/>
              <a:t>Project: security-aware digital twin for UGV01 rover sensor trust.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Hardware path is active: UGV01 tracked rover with BN220 GPS on verified RX wiring.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Week 1 instrumentation is complete: combined telemetry, timestamps, packet health, and replay path.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Week 2 motion/calibration work is complete enough to move into benign baseline collection.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Current milestone: collect Week 3 benign runs before locking thresholds or running attacks.</a:t>
            </a:r>
          </a:p>
        </p:txBody>
      </p:sp>
      <p:sp>
        <p:nvSpPr>
          <p:cNvPr id="4" name="Footer 1"/>
          <p:cNvSpPr/>
          <p:nvPr/>
        </p:nvSpPr>
        <p:spPr>
          <a:xfrm>
            <a:off x="457200" y="6500000"/>
            <a:ext cx="8229600" cy="300000"/>
          </a:xfrm>
        </p:spPr>
        <p:txBody>
          <a:bodyPr/>
          <a:lstStyle/>
          <a:p>
            <a:r>
              <a:rPr lang="en-US" sz="1100">
                <a:solidFill>
                  <a:srgbClr val="6B7280"/>
                </a:solidFill>
              </a:rPr>
              <a:t>Digital Twin Divergence advisor update - July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/>
        </p:nvSpPr>
        <p:spPr>
          <a:xfrm>
            <a:off x="457200" y="300000"/>
            <a:ext cx="8229600" cy="700000"/>
          </a:xfrm>
        </p:spPr>
        <p:txBody>
          <a:bodyPr/>
          <a:lstStyle/>
          <a:p>
            <a:r>
              <a:rPr lang="en-US" sz="3600" b="1">
                <a:solidFill>
                  <a:srgbClr val="1F2937"/>
                </a:solidFill>
              </a:rPr>
              <a:t>Motion Tests That Will Be Done</a:t>
            </a:r>
          </a:p>
        </p:txBody>
      </p:sp>
      <p:sp>
        <p:nvSpPr>
          <p:cNvPr id="3" name="Content 2"/>
          <p:cNvSpPr/>
          <p:nvPr/>
        </p:nvSpPr>
        <p:spPr>
          <a:xfrm>
            <a:off x="700000" y="1250000"/>
            <a:ext cx="7700000" cy="5000000"/>
          </a:xfrm>
        </p:spPr>
        <p:txBody>
          <a:bodyPr wrap="square"/>
          <a:lstStyle/>
          <a:p>
            <a:pPr marL="342900" indent="-171450">
              <a:buChar char="?"/>
              <a:defRPr sz="2400"/>
            </a:pPr>
            <a:r>
              <a:rPr lang="en-US" sz="2400"/>
              <a:t>Primary Week 3 route: 0.5 m square loop repeated 3 times per trial.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Each loop closes with a fourth 90 degree turn so the rover ends facing its starting direction.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Validation sequence also covers forward 1 m, reverse 1 m, 360 turn, forward run, 180 turn, return run, and heading restore.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Slow timed quarter-turns are used because fast host-side HTTP turns overshot during testing.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Runs are valid only if the route completes without manual rescue and telemetry remains replayable.</a:t>
            </a:r>
          </a:p>
        </p:txBody>
      </p:sp>
      <p:sp>
        <p:nvSpPr>
          <p:cNvPr id="4" name="Footer 2"/>
          <p:cNvSpPr/>
          <p:nvPr/>
        </p:nvSpPr>
        <p:spPr>
          <a:xfrm>
            <a:off x="457200" y="6500000"/>
            <a:ext cx="8229600" cy="300000"/>
          </a:xfrm>
        </p:spPr>
        <p:txBody>
          <a:bodyPr/>
          <a:lstStyle/>
          <a:p>
            <a:r>
              <a:rPr lang="en-US" sz="1100">
                <a:solidFill>
                  <a:srgbClr val="6B7280"/>
                </a:solidFill>
              </a:rPr>
              <a:t>Digital Twin Divergence advisor update - July 16,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/>
          <p:nvPr/>
        </p:nvSpPr>
        <p:spPr>
          <a:xfrm>
            <a:off x="457200" y="300000"/>
            <a:ext cx="8229600" cy="700000"/>
          </a:xfrm>
        </p:spPr>
        <p:txBody>
          <a:bodyPr/>
          <a:lstStyle/>
          <a:p>
            <a:r>
              <a:rPr lang="en-US" sz="3600" b="1">
                <a:solidFill>
                  <a:srgbClr val="1F2937"/>
                </a:solidFill>
              </a:rPr>
              <a:t>Benign Dataset Environments</a:t>
            </a:r>
          </a:p>
        </p:txBody>
      </p:sp>
      <p:sp>
        <p:nvSpPr>
          <p:cNvPr id="3" name="Content 3"/>
          <p:cNvSpPr/>
          <p:nvPr/>
        </p:nvSpPr>
        <p:spPr>
          <a:xfrm>
            <a:off x="700000" y="1250000"/>
            <a:ext cx="7700000" cy="5000000"/>
          </a:xfrm>
        </p:spPr>
        <p:txBody>
          <a:bodyPr wrap="square"/>
          <a:lstStyle/>
          <a:p>
            <a:pPr marL="342900" indent="-171450">
              <a:buChar char="?"/>
              <a:defRPr sz="2400"/>
            </a:pPr>
            <a:r>
              <a:rPr lang="en-US" sz="2400"/>
              <a:t>Smooth surface: kitchen floor.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Rough surface: permeable concrete.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Speeds: low and medium command settings, mapped to measured behavior during analysis.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Network conditions: baseline Wi-Fi and edge-side buffered-delay condition.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Target benign matrix: 2 speeds x 2 surfaces x 2 network conditions x 5 trials = 40 valid runs.</a:t>
            </a:r>
          </a:p>
        </p:txBody>
      </p:sp>
      <p:sp>
        <p:nvSpPr>
          <p:cNvPr id="4" name="Footer 3"/>
          <p:cNvSpPr/>
          <p:nvPr/>
        </p:nvSpPr>
        <p:spPr>
          <a:xfrm>
            <a:off x="457200" y="6500000"/>
            <a:ext cx="8229600" cy="300000"/>
          </a:xfrm>
        </p:spPr>
        <p:txBody>
          <a:bodyPr/>
          <a:lstStyle/>
          <a:p>
            <a:r>
              <a:rPr lang="en-US" sz="1100">
                <a:solidFill>
                  <a:srgbClr val="6B7280"/>
                </a:solidFill>
              </a:rPr>
              <a:t>Digital Twin Divergence advisor update - July 16,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/>
          <p:nvPr/>
        </p:nvSpPr>
        <p:spPr>
          <a:xfrm>
            <a:off x="457200" y="300000"/>
            <a:ext cx="8229600" cy="700000"/>
          </a:xfrm>
        </p:spPr>
        <p:txBody>
          <a:bodyPr/>
          <a:lstStyle/>
          <a:p>
            <a:r>
              <a:rPr lang="en-US" sz="3600" b="1">
                <a:solidFill>
                  <a:srgbClr val="1F2937"/>
                </a:solidFill>
              </a:rPr>
              <a:t>How The System Works</a:t>
            </a:r>
          </a:p>
        </p:txBody>
      </p:sp>
      <p:sp>
        <p:nvSpPr>
          <p:cNvPr id="3" name="Content 4"/>
          <p:cNvSpPr/>
          <p:nvPr/>
        </p:nvSpPr>
        <p:spPr>
          <a:xfrm>
            <a:off x="700000" y="1250000"/>
            <a:ext cx="7700000" cy="5000000"/>
          </a:xfrm>
        </p:spPr>
        <p:txBody>
          <a:bodyPr wrap="square"/>
          <a:lstStyle/>
          <a:p>
            <a:pPr marL="342900" indent="-171450">
              <a:buChar char="?"/>
              <a:defRPr sz="2400"/>
            </a:pPr>
            <a:r>
              <a:rPr lang="en-US" sz="2400"/>
              <a:t>Firmware command T:147 returns combined base, encoder, IMU, voltage, GPS, sequence, sample, and send timestamps.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Bench logger adds edge send/arrival/estimate/alarm timing, clock-offset calibration, packet loss, stale-packet flag, and queue depth.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Digital twin replays real logs through tracked-drive kinematics, EKF state estimation, and Mahalanobis innovation detection.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Detector outputs include threshold comparison, lambda_max(S), epsilon_min, confidence, and envelope region.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Latency/jitter is emulated edge-side so rover behavior and firmware remain unchanged during network-condition tests.</a:t>
            </a:r>
          </a:p>
        </p:txBody>
      </p:sp>
      <p:sp>
        <p:nvSpPr>
          <p:cNvPr id="4" name="Footer 4"/>
          <p:cNvSpPr/>
          <p:nvPr/>
        </p:nvSpPr>
        <p:spPr>
          <a:xfrm>
            <a:off x="457200" y="6500000"/>
            <a:ext cx="8229600" cy="300000"/>
          </a:xfrm>
        </p:spPr>
        <p:txBody>
          <a:bodyPr/>
          <a:lstStyle/>
          <a:p>
            <a:r>
              <a:rPr lang="en-US" sz="1100">
                <a:solidFill>
                  <a:srgbClr val="6B7280"/>
                </a:solidFill>
              </a:rPr>
              <a:t>Digital Twin Divergence advisor update - July 16,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/>
          <p:nvPr/>
        </p:nvSpPr>
        <p:spPr>
          <a:xfrm>
            <a:off x="457200" y="300000"/>
            <a:ext cx="8229600" cy="700000"/>
          </a:xfrm>
        </p:spPr>
        <p:txBody>
          <a:bodyPr/>
          <a:lstStyle/>
          <a:p>
            <a:r>
              <a:rPr lang="en-US" sz="3600" b="1">
                <a:solidFill>
                  <a:srgbClr val="1F2937"/>
                </a:solidFill>
              </a:rPr>
              <a:t>What's Left To Do Next</a:t>
            </a:r>
          </a:p>
        </p:txBody>
      </p:sp>
      <p:sp>
        <p:nvSpPr>
          <p:cNvPr id="3" name="Content 5"/>
          <p:cNvSpPr/>
          <p:nvPr/>
        </p:nvSpPr>
        <p:spPr>
          <a:xfrm>
            <a:off x="700000" y="1250000"/>
            <a:ext cx="7700000" cy="5000000"/>
          </a:xfrm>
        </p:spPr>
        <p:txBody>
          <a:bodyPr wrap="square"/>
          <a:lstStyle/>
          <a:p>
            <a:pPr marL="342900" indent="-171450">
              <a:buChar char="?"/>
              <a:defRPr sz="2400"/>
            </a:pPr>
            <a:r>
              <a:rPr lang="en-US" sz="2400"/>
              <a:t>Collect the 40-run benign Week 3 dataset using the locked square-loop route and surface labels.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Replay all benign runs through the digital twin and generate packet-health, latency, and detector-consistency reports.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Lock the Mahalanobis threshold from benign data to meet P_FA &lt;= 0.05.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Compare learned uncertainty against fixed/adaptive covariance using only benign data.</a:t>
            </a:r>
          </a:p>
          <a:p>
            <a:pPr marL="342900" indent="-171450">
              <a:buChar char="?"/>
              <a:defRPr sz="2400"/>
            </a:pPr>
            <a:r>
              <a:rPr lang="en-US" sz="2400"/>
              <a:t>After thresholds are locked, run attack trials: step bias, replay, and freeze, then produce final plots and paper results.</a:t>
            </a:r>
          </a:p>
        </p:txBody>
      </p:sp>
      <p:sp>
        <p:nvSpPr>
          <p:cNvPr id="4" name="Footer 5"/>
          <p:cNvSpPr/>
          <p:nvPr/>
        </p:nvSpPr>
        <p:spPr>
          <a:xfrm>
            <a:off x="457200" y="6500000"/>
            <a:ext cx="8229600" cy="300000"/>
          </a:xfrm>
        </p:spPr>
        <p:txBody>
          <a:bodyPr/>
          <a:lstStyle/>
          <a:p>
            <a:r>
              <a:rPr lang="en-US" sz="1100">
                <a:solidFill>
                  <a:srgbClr val="6B7280"/>
                </a:solidFill>
              </a:rPr>
              <a:t>Digital Twin Divergence advisor update - July 16,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1F2937"/>
      </a:dk2>
      <a:lt2>
        <a:srgbClr val="F9FAFB"/>
      </a:lt2>
      <a:accent1>
        <a:srgbClr val="2563EB"/>
      </a:accent1>
      <a:accent2>
        <a:srgbClr val="4B5563"/>
      </a:accent2>
      <a:accent3>
        <a:srgbClr val="059669"/>
      </a:accent3>
      <a:accent4>
        <a:srgbClr val="D97706"/>
      </a:accent4>
      <a:accent5>
        <a:srgbClr val="7C3AED"/>
      </a:accent5>
      <a:accent6>
        <a:srgbClr val="DC2626"/>
      </a:accent6>
      <a:hlink>
        <a:srgbClr val="2563EB"/>
      </a:hlink>
      <a:folHlink>
        <a:srgbClr val="4B5563"/>
      </a:folHlink>
    </a:clrScheme>
    <a:fontScheme name="Plain">
      <a:majorFont>
        <a:latin typeface="Arial"/>
      </a:majorFont>
      <a:minorFont>
        <a:latin typeface="Arial"/>
      </a:minorFont>
    </a:fontScheme>
    <a:fmtScheme name="Plai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