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Digital Twin 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BF0"/>
                </a:solidFill>
              </a:defRPr>
            </a:pPr>
            <a:r>
              <a:t>Detectability limits for GPS spoofing on an edge-hosted UGV digital twin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3474720" cy="502920"/>
          </a:xfrm>
          <a:prstGeom prst="roundRect">
            <a:avLst/>
          </a:prstGeom>
          <a:solidFill>
            <a:srgbClr val="ECB53F"/>
          </a:solidFill>
          <a:ln>
            <a:solidFill>
              <a:srgbClr val="ECB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33A"/>
                </a:solidFill>
              </a:defRPr>
            </a:pPr>
            <a:r>
              <a:t>Phase 0 software scaffold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154680"/>
            <a:ext cx="4069080" cy="502920"/>
          </a:xfrm>
          <a:prstGeom prst="roundRect">
            <a:avLst/>
          </a:prstGeom>
          <a:solidFill>
            <a:srgbClr val="008791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EKF + attacks + uncertainty +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3154680"/>
            <a:ext cx="2743200" cy="502920"/>
          </a:xfrm>
          <a:prstGeom prst="roundRect">
            <a:avLst/>
          </a:prstGeom>
          <a:solidFill>
            <a:srgbClr val="41915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Ready for UGV01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Why this project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4864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127"/>
                </a:solidFill>
              </a:defRPr>
            </a:pPr>
            <a:r>
              <a:t>GPS spoofing can send syntactically valid but physically false coordinates.</a:t>
            </a:r>
          </a:p>
          <a:p>
            <a:pPr>
              <a:spcAft>
                <a:spcPts val="700"/>
              </a:spcAft>
              <a:defRPr sz="2000">
                <a:solidFill>
                  <a:srgbClr val="1C2127"/>
                </a:solidFill>
              </a:defRPr>
            </a:pPr>
            <a:r>
              <a:t>Traditional packet/network checks may miss semantic sensor attacks.</a:t>
            </a:r>
          </a:p>
          <a:p>
            <a:pPr>
              <a:spcAft>
                <a:spcPts val="700"/>
              </a:spcAft>
              <a:defRPr sz="2000">
                <a:solidFill>
                  <a:srgbClr val="1C2127"/>
                </a:solidFill>
              </a:defRPr>
            </a:pPr>
            <a:r>
              <a:t>A digital twin predicts rover motion and compares prediction against reported GPS.</a:t>
            </a:r>
          </a:p>
          <a:p>
            <a:pPr>
              <a:spcAft>
                <a:spcPts val="700"/>
              </a:spcAft>
              <a:defRPr sz="2000">
                <a:solidFill>
                  <a:srgbClr val="1C2127"/>
                </a:solidFill>
              </a:defRPr>
            </a:pPr>
            <a:r>
              <a:t>The research question is not only whether attacks are detected, but when they become statistically hard to detect.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43000"/>
            <a:ext cx="4754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143000"/>
            <a:ext cx="109728" cy="18288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28016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Core 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09928"/>
            <a:ext cx="43434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More speed, rough terrain, and latency increase uncertainty.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More uncertainty makes attacks harder to distinguish from normal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46120"/>
            <a:ext cx="4754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3246120"/>
            <a:ext cx="109728" cy="18288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383279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Research 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813048"/>
            <a:ext cx="43434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Map the minimum detectable GPS manipulation size.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Identify safe, warning, and blind operating regions.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What the Project Represents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A security-aware mobile digital twin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" cy="18288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1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29718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Software model of the UGV state.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Predicts where the rover should 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051560"/>
            <a:ext cx="109728" cy="182880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18871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Divergence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18488"/>
            <a:ext cx="29718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Difference between predicted state and physical GPS.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Measured through innovation and Mahalanobis distance.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0515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051560"/>
            <a:ext cx="109728" cy="18288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18871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Detectability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618488"/>
            <a:ext cx="29718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How large an attack must be to reliably stand out.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Driven by innovation covariance S_k.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703320"/>
            <a:ext cx="9966960" cy="777240"/>
          </a:xfrm>
          <a:prstGeom prst="roundRect">
            <a:avLst/>
          </a:prstGeom>
          <a:solidFill>
            <a:srgbClr val="EEF6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F233A"/>
                </a:solidFill>
                <a:latin typeface="Consolas"/>
              </a:defRPr>
            </a:pPr>
            <a:r>
              <a:t>Digital Twin prediction vs. reported GPS -&gt; innovation -&gt; detector -&gt; confidence envelope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92040"/>
            <a:ext cx="95097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127"/>
                </a:solidFill>
              </a:defRPr>
            </a:pPr>
            <a:r>
              <a:t>The contribution is a measurable security boundary, not just a working localization filter.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Telemetry to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417320" cy="685800"/>
          </a:xfrm>
          <a:prstGeom prst="roundRect">
            <a:avLst/>
          </a:prstGeom>
          <a:solidFill>
            <a:srgbClr val="008791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UGV01 sensors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874519"/>
            <a:ext cx="1417320" cy="685800"/>
          </a:xfrm>
          <a:prstGeom prst="roundRect">
            <a:avLst/>
          </a:prstGeom>
          <a:solidFill>
            <a:srgbClr val="008791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Arduino packet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874519"/>
            <a:ext cx="1417320" cy="685800"/>
          </a:xfrm>
          <a:prstGeom prst="roundRect">
            <a:avLst/>
          </a:prstGeom>
          <a:solidFill>
            <a:srgbClr val="008791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Serial / WiFi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74519"/>
            <a:ext cx="1417320" cy="685800"/>
          </a:xfrm>
          <a:prstGeom prst="roundRect">
            <a:avLst/>
          </a:prstGeom>
          <a:solidFill>
            <a:srgbClr val="008791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Python parser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874519"/>
            <a:ext cx="1417320" cy="68580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EKF twin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874519"/>
            <a:ext cx="1417320" cy="68580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Detector + logs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221992"/>
            <a:ext cx="41148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39" y="2221992"/>
            <a:ext cx="411481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7840" y="2221992"/>
            <a:ext cx="41148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" y="2221992"/>
            <a:ext cx="41148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40" y="2221992"/>
            <a:ext cx="41148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246120"/>
            <a:ext cx="4937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246120"/>
            <a:ext cx="109728" cy="2011680"/>
          </a:xfrm>
          <a:prstGeom prst="rect">
            <a:avLst/>
          </a:prstGeom>
          <a:solidFill>
            <a:srgbClr val="41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3832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Implemented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13048"/>
            <a:ext cx="452628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telemetry.py, kinematics.py, ekf.py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uncertainty.py, detector.py, attack.py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logger.py, experiment.py, plot.py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analysis scripts for P_D, ROC, threshold locking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4572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109728" cy="201168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383279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Hardware adapter 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813048"/>
            <a:ext cx="416052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Firmware already serializes the packet shape.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Real GPS/encoder/IMU values replace synthetic placeholders.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Telemetry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Frozen interface before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669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127"/>
                </a:solidFill>
              </a:defRPr>
            </a:pPr>
            <a:r>
              <a:t>Packed 76-byte little-endian TelemetryPacket with CRC32.</a:t>
            </a:r>
          </a:p>
          <a:p>
            <a:pPr>
              <a:spcAft>
                <a:spcPts val="700"/>
              </a:spcAft>
              <a:defRPr sz="1800">
                <a:solidFill>
                  <a:srgbClr val="1C2127"/>
                </a:solidFill>
              </a:defRPr>
            </a:pPr>
            <a:r>
              <a:t>Fields include sequence, timestamp, encoder ticks, IMU, GPS, fix metadata, and HDOP.</a:t>
            </a:r>
          </a:p>
          <a:p>
            <a:pPr>
              <a:spcAft>
                <a:spcPts val="700"/>
              </a:spcAft>
              <a:defRPr sz="1800">
                <a:solidFill>
                  <a:srgbClr val="1C2127"/>
                </a:solidFill>
              </a:defRPr>
            </a:pPr>
            <a:r>
              <a:t>Arduino serializer and Python deserializer use the same packet contract.</a:t>
            </a:r>
          </a:p>
          <a:p>
            <a:pPr>
              <a:spcAft>
                <a:spcPts val="700"/>
              </a:spcAft>
              <a:defRPr sz="1800">
                <a:solidFill>
                  <a:srgbClr val="1C2127"/>
                </a:solidFill>
              </a:defRPr>
            </a:pPr>
            <a:r>
              <a:t>Synthetic simulator emits the same packet shape as future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25880"/>
            <a:ext cx="4389120" cy="77724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F233A"/>
                </a:solidFill>
                <a:latin typeface="Consolas"/>
              </a:defRPr>
            </a:pPr>
            <a:r>
              <a:t>Arduino Packet -&gt; Serial/WiFi -&gt; Python -&gt; EKF/logs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514600"/>
            <a:ext cx="4389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0" y="2514600"/>
            <a:ext cx="109728" cy="21031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651760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081528"/>
            <a:ext cx="3977639" cy="14173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Hardware arrival should be integration, not interface redesign.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CRC + sequence numbers expose packet corruption and drops.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Rover Physics and Kinematics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Differential-drive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51560"/>
            <a:ext cx="4480560" cy="64008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F233A"/>
                </a:solidFill>
                <a:latin typeface="Consolas"/>
              </a:defRPr>
            </a:pPr>
            <a:r>
              <a:t>state x_k = [p_x, p_y, theta]^T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480560" cy="105156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F233A"/>
                </a:solidFill>
                <a:latin typeface="Consolas"/>
              </a:defRPr>
            </a:pPr>
            <a:r>
              <a:t>v = (Delta s_R + Delta s_L) / (2 Delta t)</a:t>
            </a:r>
            <a:br/>
            <a:r>
              <a:t>omega = (Delta s_R - Delta s_L) / (b Delta 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4480560" cy="132588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233A"/>
                </a:solidFill>
                <a:latin typeface="Consolas"/>
              </a:defRPr>
            </a:pPr>
            <a:r>
              <a:t>p_x_next = p_x + v cos(theta_mid) Delta t</a:t>
            </a:r>
            <a:br/>
            <a:r>
              <a:t>p_y_next = p_y + v sin(theta_mid) Delta t</a:t>
            </a:r>
            <a:br/>
            <a:r>
              <a:t>theta_next = theta + omega Delta 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051560"/>
            <a:ext cx="52120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051560"/>
            <a:ext cx="109728" cy="283464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18871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18488"/>
            <a:ext cx="480060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Equal wheel motion -&gt; straight line.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Unequal wheel motion -&gt; turn.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Wheel radius, wheel base, and ticks/rev must be calibrated on real UGV01.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416052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4160520"/>
            <a:ext cx="109728" cy="1234440"/>
          </a:xfrm>
          <a:prstGeom prst="rect">
            <a:avLst/>
          </a:prstGeom>
          <a:solidFill>
            <a:srgbClr val="41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42976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What is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727448"/>
            <a:ext cx="4800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DifferentialDriveGeometry converts ticks to controls.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Synthetic square, circle, and figure-eight trajectories are 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Extended Kalman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Prediction plus GPS correction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109728" cy="219456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8871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30175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Use encoder-derived v and omega.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Propagate state and covariance.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P_pred = F P F^T + 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051560"/>
            <a:ext cx="109728" cy="219456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18871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18488"/>
            <a:ext cx="30175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GPS gives z = [gps_x, gps_y].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innovation nu = z - H x_pred.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K = P H^T S^-1.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51560"/>
            <a:ext cx="109728" cy="2194560"/>
          </a:xfrm>
          <a:prstGeom prst="rect">
            <a:avLst/>
          </a:prstGeom>
          <a:solidFill>
            <a:srgbClr val="41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18871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18488"/>
            <a:ext cx="30175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Corrected rover state estimate.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Innovation, S_k, Kalman gain, Mahalanobis distance.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CSV rows for analysis and plots.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931920"/>
            <a:ext cx="4206240" cy="64008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F233A"/>
                </a:solidFill>
                <a:latin typeface="Consolas"/>
              </a:defRPr>
            </a:pPr>
            <a:r>
              <a:t>S_k = H P_k|k-1 H^T + R_k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4206240" cy="64008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F233A"/>
                </a:solidFill>
                <a:latin typeface="Consolas"/>
              </a:defRPr>
            </a:pPr>
            <a:r>
              <a:t>x_k|k = x_k|k-1 + K_k nu_k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Detector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From innovation to attack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05840"/>
            <a:ext cx="4663440" cy="68580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F233A"/>
                </a:solidFill>
                <a:latin typeface="Consolas"/>
              </a:defRPr>
            </a:pPr>
            <a:r>
              <a:t>delta_k = nu_k^T S_k^-1 nu_k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12064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127"/>
                </a:solidFill>
              </a:defRPr>
            </a:pPr>
            <a:r>
              <a:t>delta_k is Mahalanobis distance: error measured relative to uncertainty.</a:t>
            </a:r>
          </a:p>
          <a:p>
            <a:pPr>
              <a:spcAft>
                <a:spcPts val="700"/>
              </a:spcAft>
              <a:defRPr sz="1700">
                <a:solidFill>
                  <a:srgbClr val="1C2127"/>
                </a:solidFill>
              </a:defRPr>
            </a:pPr>
            <a:r>
              <a:t>If delta_k exceeds the locked threshold, the detector flags an anomaly.</a:t>
            </a:r>
          </a:p>
          <a:p>
            <a:pPr>
              <a:spcAft>
                <a:spcPts val="700"/>
              </a:spcAft>
              <a:defRPr sz="1700">
                <a:solidFill>
                  <a:srgbClr val="1C2127"/>
                </a:solidFill>
              </a:defRPr>
            </a:pPr>
            <a:r>
              <a:t>Under nominal operation, delta_k approximately follows a chi-square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05840"/>
            <a:ext cx="4800600" cy="68580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F233A"/>
                </a:solidFill>
                <a:latin typeface="Consolas"/>
              </a:defRPr>
            </a:pPr>
            <a:r>
              <a:t>epsilon_min = sqrt(lambda_star * lambda_max(S_k))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84632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127"/>
                </a:solidFill>
              </a:defRPr>
            </a:pPr>
            <a:r>
              <a:t>epsilon_min is the minimum reliably detectable GPS manipulation size.</a:t>
            </a:r>
          </a:p>
          <a:p>
            <a:pPr>
              <a:spcAft>
                <a:spcPts val="700"/>
              </a:spcAft>
              <a:defRPr sz="1700">
                <a:solidFill>
                  <a:srgbClr val="1C2127"/>
                </a:solidFill>
              </a:defRPr>
            </a:pPr>
            <a:r>
              <a:t>As S_k grows, the detectable attack size grows.</a:t>
            </a:r>
          </a:p>
          <a:p>
            <a:pPr>
              <a:spcAft>
                <a:spcPts val="700"/>
              </a:spcAft>
              <a:defRPr sz="1700">
                <a:solidFill>
                  <a:srgbClr val="1C2127"/>
                </a:solidFill>
              </a:defRPr>
            </a:pPr>
            <a:r>
              <a:t>This is the proposal's central detectability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Uncertainty, Latency, and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Why attacks can hide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05840"/>
            <a:ext cx="4937760" cy="68580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F233A"/>
                </a:solidFill>
                <a:latin typeface="Consolas"/>
              </a:defRPr>
            </a:pPr>
            <a:r>
              <a:t>Q_k = g(r_k, sigma_IMU, sigma_v, Delta t_k)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49377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109728" cy="237744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Feature meanings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32888"/>
            <a:ext cx="45262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r_k: GPS vs dead-reckoning residual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sigma_IMU: vibration / yaw variability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sigma_v: velocity variance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Delta t_k: arrival timing stress + packet 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51560"/>
            <a:ext cx="4754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109728" cy="219456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188719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Latency behavior now implemented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18488"/>
            <a:ext cx="434340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Buffered latency changes packet timing stress.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Higher latency increases Q_k, S_k, and epsilon_min.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This supports preliminary synthetic rehearsal before hardware.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57600"/>
            <a:ext cx="4754880" cy="86868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F233A"/>
                </a:solidFill>
                <a:latin typeface="Consolas"/>
              </a:defRPr>
            </a:pPr>
            <a:r>
              <a:t>higher latency / rough terrain -&gt; larger S_k -&gt; larger epsilon_min -&gt; harder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Attack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Semantic GPS manipulation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2743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" cy="201168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Step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233172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Add fixed displacement to GPS.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Cleanest validation for epsilon_min.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Sweep: 0.5, 1, 2, 3, 5, 7.5, 10 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51560"/>
            <a:ext cx="2743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051560"/>
            <a:ext cx="109728" cy="201168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1887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618488"/>
            <a:ext cx="233172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Replay old valid GPS stream.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Tests temporal manipulation.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No packet-format anomaly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051560"/>
            <a:ext cx="2743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051560"/>
            <a:ext cx="109728" cy="20116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1887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618488"/>
            <a:ext cx="233172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Hold GPS at one coordinate.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Simulates stale or locked sensor.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Divergence grows as rover moves.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05156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051560"/>
            <a:ext cx="109728" cy="2011680"/>
          </a:xfrm>
          <a:prstGeom prst="rect">
            <a:avLst/>
          </a:prstGeom>
          <a:solidFill>
            <a:srgbClr val="41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188719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Random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618488"/>
            <a:ext cx="164592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Slow false movement over time.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Useful for gradual semantic manipulation.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Implemented for synthetic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977639"/>
            <a:ext cx="9784080" cy="68580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F233A"/>
                </a:solidFill>
                <a:latin typeface="Consolas"/>
              </a:defRPr>
            </a:pPr>
            <a:r>
              <a:t>All attacks enter before GPS update -&gt; innovation changes -&gt; detector responds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What Has Been Built Till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Phase 0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" cy="22402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Core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3063239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EKF, kinematics, detector, uncertainty estimator.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Telemetry parser, receiver, logger, plotter.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Synthetic rover and latency simulator.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051560"/>
            <a:ext cx="109728" cy="224028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Experiment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18488"/>
            <a:ext cx="3063239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Full 2^3 matrix automation.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Step-bias sweeps.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Attack injector for step, replay, freeze,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0515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051560"/>
            <a:ext cx="109728" cy="2240280"/>
          </a:xfrm>
          <a:prstGeom prst="rect">
            <a:avLst/>
          </a:prstGeom>
          <a:solidFill>
            <a:srgbClr val="41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1887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Analysis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18488"/>
            <a:ext cx="3063239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Threshold locking from nominal CSVs.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Empirical P_D summaries.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ROC and detection-probability plots.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Random Forest uncertainty-training stub.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794760"/>
            <a:ext cx="8321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3794760"/>
            <a:ext cx="109728" cy="146304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39319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Docs and repo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61688"/>
            <a:ext cx="79095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Math framework, telemetry protocol, running guide, GPS notes, roadmap.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Tests pass: 8 automated checks.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Committed cleanly: 61216fb.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Current Status and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What is complete vs pending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097280"/>
            <a:ext cx="3017520" cy="1143000"/>
          </a:xfrm>
          <a:prstGeom prst="roundRect">
            <a:avLst/>
          </a:prstGeom>
          <a:solidFill>
            <a:srgbClr val="41915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Software / Phase 0</a:t>
            </a:r>
            <a:br/>
            <a:r>
              <a:t>90-95%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017520" cy="1143000"/>
          </a:xfrm>
          <a:prstGeom prst="roundRect">
            <a:avLst/>
          </a:prstGeom>
          <a:solidFill>
            <a:srgbClr val="008791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Math implementation</a:t>
            </a:r>
            <a:br/>
            <a:r>
              <a:t>80-85% aligned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097280"/>
            <a:ext cx="3017520" cy="1143000"/>
          </a:xfrm>
          <a:prstGeom prst="roundRect">
            <a:avLst/>
          </a:prstGeom>
          <a:solidFill>
            <a:srgbClr val="ECB53F"/>
          </a:solidFill>
          <a:ln>
            <a:solidFill>
              <a:srgbClr val="ECB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233A"/>
                </a:solidFill>
              </a:defRPr>
            </a:pPr>
            <a:r>
              <a:t>Experimental validation</a:t>
            </a:r>
            <a:br/>
            <a:r>
              <a:t>awaiting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10058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2127"/>
                </a:solidFill>
              </a:defRPr>
            </a:pPr>
            <a:r>
              <a:t>The build phase is mostly complete; the remaining project value comes from real UGV01 data.</a:t>
            </a:r>
          </a:p>
          <a:p>
            <a:pPr>
              <a:spcAft>
                <a:spcPts val="700"/>
              </a:spcAft>
              <a:defRPr sz="1900">
                <a:solidFill>
                  <a:srgbClr val="1C2127"/>
                </a:solidFill>
              </a:defRPr>
            </a:pPr>
            <a:r>
              <a:t>Core digital-twin code should not need a rewrite after hardware arrives.</a:t>
            </a:r>
          </a:p>
          <a:p>
            <a:pPr>
              <a:spcAft>
                <a:spcPts val="700"/>
              </a:spcAft>
              <a:defRPr sz="1900">
                <a:solidFill>
                  <a:srgbClr val="1C2127"/>
                </a:solidFill>
              </a:defRPr>
            </a:pPr>
            <a:r>
              <a:t>Expected changes: real GPS parsing, calibrated rover constants, threshold from real nominal data, learned Q_k from real runs.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What Remains After UGV01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Integration and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09728" cy="20116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Hardware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3063239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Assemble rover.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Wire BN-220 GPS, encoders, IMU.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Verify packet CRC and sequence continuity.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051560"/>
            <a:ext cx="109728" cy="201168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18488"/>
            <a:ext cx="3063239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Wheel radius, wheel base, ticks/rev.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Straight-line and turn tests.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Stationary GPS noise and HDOP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0515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051560"/>
            <a:ext cx="109728" cy="201168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1887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18488"/>
            <a:ext cx="3063239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40 benign baseline runs.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Threshold locking and learned uncertainty.</a:t>
            </a:r>
          </a:p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Attack campaign and detectability maps.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77639"/>
            <a:ext cx="10698480" cy="86868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F233A"/>
                </a:solidFill>
                <a:latin typeface="Consolas"/>
              </a:defRPr>
            </a:pPr>
            <a:r>
              <a:t>packets -&gt; calibration -&gt; benign baselines -&gt; threshold locking -&gt; learned uncertainty -&gt; attacks -&gt;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Work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EB"/>
                </a:solidFill>
              </a:defRPr>
            </a:pPr>
            <a:r>
              <a:t>Last slide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05840"/>
            <a:ext cx="502920" cy="50292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07592" y="100584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07592" y="1005840"/>
            <a:ext cx="109728" cy="13258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14300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Bring-up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57276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UGV01 assembly, BN-220 GPS, encoder/IMU telemetry, CRC-valid packets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005840"/>
            <a:ext cx="502920" cy="50292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00584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02352" y="1005840"/>
            <a:ext cx="109728" cy="132588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114300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Calibrate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57276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Wheel geometry, GPS noise, local-frame conversion, straight and turn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005840"/>
            <a:ext cx="502920" cy="50292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2" y="100584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7112" y="1005840"/>
            <a:ext cx="109728" cy="1325880"/>
          </a:xfrm>
          <a:prstGeom prst="rect">
            <a:avLst/>
          </a:prstGeom>
          <a:solidFill>
            <a:srgbClr val="41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114300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157276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Full 2^3 benign matrix: speed, terrain, latency, 5 trials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502920" cy="50292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07592" y="34290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7592" y="3429000"/>
            <a:ext cx="109728" cy="13258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36192" y="356616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99592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Lock threshold, train Q_k estimator, compare adaptive vs fixed EKF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429000"/>
            <a:ext cx="502920" cy="50292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02352" y="34290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02352" y="3429000"/>
            <a:ext cx="109728" cy="1325880"/>
          </a:xfrm>
          <a:prstGeom prst="rect">
            <a:avLst/>
          </a:prstGeom>
          <a:solidFill>
            <a:srgbClr val="EC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356616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Attack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399592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Step sweep, replay, freeze; compute P_D, ROC, detection delay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429000"/>
            <a:ext cx="502920" cy="50292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97112" y="34290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97112" y="3429000"/>
            <a:ext cx="109728" cy="132588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356616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33A"/>
                </a:solidFill>
              </a:defRPr>
            </a:pPr>
            <a:r>
              <a:t>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399592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C2127"/>
                </a:solidFill>
              </a:defRPr>
            </a:pPr>
            <a:r>
              <a:t>Detectability maps, confidence envelopes, results, limitations, manuscript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715000"/>
            <a:ext cx="10149840" cy="548640"/>
          </a:xfrm>
          <a:prstGeom prst="roundRect">
            <a:avLst/>
          </a:prstGeom>
          <a:solidFill>
            <a:srgbClr val="ECF1F5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233A"/>
                </a:solidFill>
                <a:latin typeface="Consolas"/>
              </a:defRPr>
            </a:pPr>
            <a:r>
              <a:t>Final aim: quantify when GPS attacks are detectable, degraded, or effectively hidden by mobility-induced uncertainty.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707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