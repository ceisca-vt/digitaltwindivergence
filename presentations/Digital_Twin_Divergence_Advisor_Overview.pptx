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9" r:id="rId10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521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164592" cy="685800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0"/>
            <a:ext cx="164592" cy="6858000"/>
          </a:xfrm>
          <a:prstGeom prst="rect">
            <a:avLst/>
          </a:prstGeom>
          <a:solidFill>
            <a:srgbClr val="5BC0BE"/>
          </a:solidFill>
          <a:ln>
            <a:solidFill>
              <a:srgbClr val="5BC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0"/>
            <a:ext cx="164592" cy="6858000"/>
          </a:xfrm>
          <a:prstGeom prst="rect">
            <a:avLst/>
          </a:prstGeom>
          <a:solidFill>
            <a:srgbClr val="E19D40"/>
          </a:solidFill>
          <a:ln>
            <a:solidFill>
              <a:srgbClr val="E19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051560"/>
            <a:ext cx="1042416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Aptos Display"/>
              </a:rPr>
              <a:t>Digital Twin Divergence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47088"/>
            <a:ext cx="969264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D2E1EE"/>
                </a:solidFill>
                <a:latin typeface="Aptos"/>
              </a:rPr>
              <a:t>A security-aware Digital Twin for rover sensor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450592"/>
            <a:ext cx="85039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B8CBDB"/>
                </a:solidFill>
                <a:latin typeface="Aptos"/>
              </a:rPr>
              <a:t>Advisor update | July 10,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160520"/>
            <a:ext cx="1325880" cy="393192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Crux: T:147 combined telemetry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160520"/>
            <a:ext cx="1508760" cy="393192"/>
          </a:xfrm>
          <a:prstGeom prst="roundRect">
            <a:avLst/>
          </a:prstGeom>
          <a:solidFill>
            <a:srgbClr val="E19D40"/>
          </a:solidFill>
          <a:ln>
            <a:solidFill>
              <a:srgbClr val="E19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Real rover-to-edge pipeline 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4160520"/>
            <a:ext cx="1691640" cy="393192"/>
          </a:xfrm>
          <a:prstGeom prst="roundRect">
            <a:avLst/>
          </a:prstGeom>
          <a:solidFill>
            <a:srgbClr val="CA4B4B"/>
          </a:solidFill>
          <a:ln>
            <a:solidFill>
              <a:srgbClr val="CA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Future work = calibrated field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4160520"/>
            <a:ext cx="2011680" cy="393192"/>
          </a:xfrm>
          <a:prstGeom prst="roundRect">
            <a:avLst/>
          </a:prstGeom>
          <a:solidFill>
            <a:srgbClr val="4E9A5B"/>
          </a:solidFill>
          <a:ln>
            <a:solidFill>
              <a:srgbClr val="4E9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UGV01 + BN220 bench stack 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9052560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Central claim: the project now has one usable telemetry interface that carries timing, motion, IMU, and GPS state into the digital twin and will support the full experiment campaign.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A sensor stream can be syntactically valid but physically wrong.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37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39112"/>
            <a:ext cx="293522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634"/>
                </a:solidFill>
                <a:latin typeface="Aptos"/>
              </a:rPr>
              <a:t>Normal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41448"/>
            <a:ext cx="2935224" cy="23042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GPS, timing, and motion data arrive from the rover.
Packets can look valid even when the physical meaning is wrong.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74519"/>
            <a:ext cx="3337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2039112"/>
            <a:ext cx="293522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634"/>
                </a:solidFill>
                <a:latin typeface="Aptos"/>
              </a:rPr>
              <a:t>Attack or uncertainty?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441448"/>
            <a:ext cx="2935224" cy="23042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A bad reading may be caused by spoofing, replay, freezing, drift, latency, GPS noise, or wheel slip.
Those cases can look similar.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74519"/>
            <a:ext cx="33375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2039112"/>
            <a:ext cx="293522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634"/>
                </a:solidFill>
                <a:latin typeface="Aptos"/>
              </a:rPr>
              <a:t>Research 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441448"/>
            <a:ext cx="2935224" cy="23042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The system must decide when divergence is meaningful and when it is hidden inside normal operating uncertainty.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Project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Build a Digital Twin that reasons about sensor trust, not just packet validity.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596775"/>
                </a:solidFill>
                <a:latin typeface="Aptos"/>
              </a:rPr>
              <a:t>This project asks: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2412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When can a mobile Digital Twin reliably distinguish a sensor attack from benign uncertainty?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149840" cy="16459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Use rover physics to predict where the vehicle should be.</a:t>
            </a:r>
          </a:p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Compare prediction against GPS and telemetry measurements.</a:t>
            </a:r>
          </a:p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Adapt confidence as speed, latency, noise, and terrain change.</a:t>
            </a:r>
          </a:p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Report detection confidence instead of only producing a binary alarm.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Crux: Combined Telemetry Packet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main measurement interface is the firmware response to T:147.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834640"/>
            <a:ext cx="1600200" cy="585216"/>
          </a:xfrm>
          <a:prstGeom prst="roundRect">
            <a:avLst/>
          </a:prstGeom>
          <a:solidFill>
            <a:srgbClr val="1F3750"/>
          </a:solidFill>
          <a:ln>
            <a:solidFill>
              <a:srgbClr val="1F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Identity + timing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834640"/>
            <a:ext cx="1600200" cy="585216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Base / encoders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92040" y="2834640"/>
            <a:ext cx="1600200" cy="585216"/>
          </a:xfrm>
          <a:prstGeom prst="roundRect">
            <a:avLst/>
          </a:prstGeom>
          <a:solidFill>
            <a:srgbClr val="E19D40"/>
          </a:solidFill>
          <a:ln>
            <a:solidFill>
              <a:srgbClr val="E19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IMU attitude + raw motion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9480" y="2834640"/>
            <a:ext cx="1783080" cy="585216"/>
          </a:xfrm>
          <a:prstGeom prst="roundRect">
            <a:avLst/>
          </a:prstGeom>
          <a:solidFill>
            <a:srgbClr val="CA4B4B"/>
          </a:solidFill>
          <a:ln>
            <a:solidFill>
              <a:srgbClr val="CA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GPS state + health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834640"/>
            <a:ext cx="1600200" cy="585216"/>
          </a:xfrm>
          <a:prstGeom prst="roundRect">
            <a:avLst/>
          </a:prstGeom>
          <a:solidFill>
            <a:srgbClr val="4E9A5B"/>
          </a:solidFill>
          <a:ln>
            <a:solidFill>
              <a:srgbClr val="4E9A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Aptos"/>
              </a:rPr>
              <a:t>Edge-side timing use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3127248"/>
            <a:ext cx="429768" cy="0"/>
          </a:xfrm>
          <a:prstGeom prst="line">
            <a:avLst/>
          </a:prstGeom>
          <a:ln w="1905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80560" y="3127248"/>
            <a:ext cx="338328" cy="0"/>
          </a:xfrm>
          <a:prstGeom prst="line">
            <a:avLst/>
          </a:prstGeom>
          <a:ln w="1905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37959" y="3127248"/>
            <a:ext cx="658369" cy="0"/>
          </a:xfrm>
          <a:prstGeom prst="line">
            <a:avLst/>
          </a:prstGeom>
          <a:ln w="1905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15400" y="3127248"/>
            <a:ext cx="521208" cy="0"/>
          </a:xfrm>
          <a:prstGeom prst="line">
            <a:avLst/>
          </a:prstGeom>
          <a:ln w="1905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4160520"/>
            <a:ext cx="105156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25112"/>
            <a:ext cx="101132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A2634"/>
                </a:solidFill>
                <a:latin typeface="Aptos"/>
              </a:rPr>
              <a:t>T:147 contents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727448"/>
            <a:ext cx="10113264" cy="38404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T:147 returns seq, sample_ms, millis, send_ms, L/R, enc_left/right, battery voltage, roll/pitch/yaw, raw IMU channels, GPS fix/lat/lon/sat/hdop, and GPS checksum/character counters.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estimator is explained without leaning on equations.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221992"/>
            <a:ext cx="14721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624328"/>
            <a:ext cx="1472184" cy="16184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Use the rover motion model to estimate where the rover should be now.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39" y="3200400"/>
            <a:ext cx="274321" cy="0"/>
          </a:xfrm>
          <a:prstGeom prst="line">
            <a:avLst/>
          </a:prstGeom>
          <a:ln w="1524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0574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2221992"/>
            <a:ext cx="14721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Compare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2624328"/>
            <a:ext cx="1472184" cy="16184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Measure how far the incoming GPS reading is from the expected position.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46320" y="3200400"/>
            <a:ext cx="274320" cy="0"/>
          </a:xfrm>
          <a:prstGeom prst="line">
            <a:avLst/>
          </a:prstGeom>
          <a:ln w="1524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212080" y="20574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2221992"/>
            <a:ext cx="14721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19D40"/>
                </a:solidFill>
                <a:latin typeface="Aptos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2624328"/>
            <a:ext cx="1472184" cy="16184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Judge the disagreement relative to current uncertainty, not raw distance alone.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86600" y="3200400"/>
            <a:ext cx="274320" cy="0"/>
          </a:xfrm>
          <a:prstGeom prst="line">
            <a:avLst/>
          </a:prstGeom>
          <a:ln w="1524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20574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2221992"/>
            <a:ext cx="14721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E9A5B"/>
                </a:solidFill>
                <a:latin typeface="Aptos"/>
              </a:rPr>
              <a:t>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624328"/>
            <a:ext cx="1472184" cy="16184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Fuse the new measurement into the rover state estimate.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26880" y="3200400"/>
            <a:ext cx="274320" cy="0"/>
          </a:xfrm>
          <a:prstGeom prst="line">
            <a:avLst/>
          </a:prstGeom>
          <a:ln w="15240">
            <a:solidFill>
              <a:srgbClr val="59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92640" y="2057400"/>
            <a:ext cx="1874519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2221992"/>
            <a:ext cx="147218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624328"/>
            <a:ext cx="1472184" cy="16184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Flag readings that are statistically inconsistent with the Digital Twin.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596775"/>
                </a:solidFill>
                <a:latin typeface="Aptos"/>
              </a:rPr>
              <a:t>In code, this is the EKF plus the innovation-based detector.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Why Uncertainty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same GPS error can be normal in one condition and suspicious in another.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074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84832"/>
            <a:ext cx="467258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E9A5B"/>
                </a:solidFill>
                <a:latin typeface="Aptos"/>
              </a:rPr>
              <a:t>Low uncertainty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87168"/>
            <a:ext cx="4672583" cy="17556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Smooth motion, low latency, stable GPS, predictable rover behavior.
Small sensor deviations become suspicious.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20240"/>
            <a:ext cx="507492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084832"/>
            <a:ext cx="4672583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High uncertainty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487168"/>
            <a:ext cx="4672583" cy="17556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Rougher motion, higher latency, GPS jitter, wheel slip, or changing terrain.
The system needs a wider trust envelope.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1A2634"/>
                </a:solidFill>
                <a:latin typeface="Aptos"/>
              </a:rPr>
              <a:t>The project models uncertainty as a first-class security variable.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Attacks Studied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These attacks can preserve valid packet structure while corrupting physical meaning.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4983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30552"/>
            <a:ext cx="45811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Step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532888"/>
            <a:ext cx="4581144" cy="5486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GPS position suddenly shifts by a fixed amount.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965960"/>
            <a:ext cx="4983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7" y="2130552"/>
            <a:ext cx="45811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19D40"/>
                </a:solidFill>
                <a:latin typeface="Aptos"/>
              </a:rPr>
              <a:t>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7" y="2532888"/>
            <a:ext cx="4581144" cy="5486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Sensor keeps reporting an old value while rover moves.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657600"/>
            <a:ext cx="4983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22191"/>
            <a:ext cx="45811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4224528"/>
            <a:ext cx="4581144" cy="5486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Previously valid telemetry is resent at the wrong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3657600"/>
            <a:ext cx="49834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7" y="3822191"/>
            <a:ext cx="45811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Random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4224528"/>
            <a:ext cx="4581144" cy="5486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Sensor value slowly walks away from truth.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Detectability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project does more than ask whether an alarm fired.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21031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596775"/>
                </a:solidFill>
                <a:latin typeface="Aptos"/>
              </a:rPr>
              <a:t>Key question: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12848"/>
            <a:ext cx="10241280" cy="76809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A2634"/>
                </a:solidFill>
                <a:latin typeface="Aptos Display"/>
              </a:rPr>
              <a:t>How large must an attack be before the Digital Twin should reliably notice 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822191"/>
            <a:ext cx="27523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E9A5B"/>
                </a:solidFill>
                <a:latin typeface="Aptos"/>
              </a:rPr>
              <a:t>Small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224528"/>
            <a:ext cx="2752344" cy="521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The twin can detect smaller attacks.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365760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3822191"/>
            <a:ext cx="27523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19D40"/>
                </a:solidFill>
                <a:latin typeface="Aptos"/>
              </a:rPr>
              <a:t>Large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4224528"/>
            <a:ext cx="2752344" cy="521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Only larger attacks stand out from noise.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65760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3822191"/>
            <a:ext cx="27523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Blind region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4224528"/>
            <a:ext cx="2752344" cy="521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Small attacks may look like normal uncertainty.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550" b="0">
                <a:solidFill>
                  <a:srgbClr val="596775"/>
                </a:solidFill>
                <a:latin typeface="Aptos"/>
              </a:rPr>
              <a:t>This boundary is tracked over time as epsilon_min.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Literature Survey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Five real papers that anchor the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825496" cy="384048"/>
          </a:xfrm>
          <a:prstGeom prst="roundRect">
            <a:avLst/>
          </a:prstGeom>
          <a:solidFill>
            <a:srgbClr val="1F3750"/>
          </a:solidFill>
          <a:ln>
            <a:solidFill>
              <a:srgbClr val="1F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83080"/>
            <a:ext cx="3831336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What it contributes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783080"/>
            <a:ext cx="4288536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How this project extends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282549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359152"/>
            <a:ext cx="2679191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919" b="1">
                <a:solidFill>
                  <a:srgbClr val="1A2634"/>
                </a:solidFill>
                <a:latin typeface="Aptos"/>
              </a:rPr>
              <a:t>Pasqualetti, Dorfler, Bullo, 2013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286000"/>
            <a:ext cx="38313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2359152"/>
            <a:ext cx="36850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Fundamental limits of attack detection in CPS.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2286000"/>
            <a:ext cx="42885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42631" y="2359152"/>
            <a:ext cx="41422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Applies detectability thinking to a mobile Digital Twin with changing uncertainty.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99232"/>
            <a:ext cx="2825496" cy="640080"/>
          </a:xfrm>
          <a:prstGeom prst="rect">
            <a:avLst/>
          </a:prstGeom>
          <a:solidFill>
            <a:srgbClr val="EFF4F7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072384"/>
            <a:ext cx="2679191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919" b="1">
                <a:solidFill>
                  <a:srgbClr val="1A2634"/>
                </a:solidFill>
                <a:latin typeface="Aptos"/>
              </a:rPr>
              <a:t>Fawzi, Tabuada, Diggavi, 2014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999232"/>
            <a:ext cx="3831336" cy="640080"/>
          </a:xfrm>
          <a:prstGeom prst="rect">
            <a:avLst/>
          </a:prstGeom>
          <a:solidFill>
            <a:srgbClr val="EFF4F7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6432" y="3072384"/>
            <a:ext cx="36850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Secure state estimation when sensors or actuators are corrupted.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999232"/>
            <a:ext cx="4288536" cy="640080"/>
          </a:xfrm>
          <a:prstGeom prst="rect">
            <a:avLst/>
          </a:prstGeom>
          <a:solidFill>
            <a:srgbClr val="EFF4F7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2631" y="3072384"/>
            <a:ext cx="41422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Uses estimation as a rover sensor-trust layer with telemetry-driven confidence.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12464"/>
            <a:ext cx="282549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785616"/>
            <a:ext cx="2679191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919" b="1">
                <a:solidFill>
                  <a:srgbClr val="1A2634"/>
                </a:solidFill>
                <a:latin typeface="Aptos"/>
              </a:rPr>
              <a:t>Satchidanandan, Kumar, 2017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712464"/>
            <a:ext cx="38313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785616"/>
            <a:ext cx="36850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Dynamic watermarking for active defense in networked CPS.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712464"/>
            <a:ext cx="42885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42631" y="3785616"/>
            <a:ext cx="41422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Focuses on passive telemetry consistency and latency-aware detectability.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425696"/>
            <a:ext cx="2825496" cy="640080"/>
          </a:xfrm>
          <a:prstGeom prst="rect">
            <a:avLst/>
          </a:prstGeom>
          <a:solidFill>
            <a:srgbClr val="EFF4F7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498848"/>
            <a:ext cx="2679191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919" b="1">
                <a:solidFill>
                  <a:srgbClr val="1A2634"/>
                </a:solidFill>
                <a:latin typeface="Aptos"/>
              </a:rPr>
              <a:t>Shen et al., 2020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4425696"/>
            <a:ext cx="3831336" cy="640080"/>
          </a:xfrm>
          <a:prstGeom prst="rect">
            <a:avLst/>
          </a:prstGeom>
          <a:solidFill>
            <a:srgbClr val="EFF4F7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6432" y="4498848"/>
            <a:ext cx="36850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GPS spoofing can defeat multi-sensor localization in AVs.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4425696"/>
            <a:ext cx="4288536" cy="640080"/>
          </a:xfrm>
          <a:prstGeom prst="rect">
            <a:avLst/>
          </a:prstGeom>
          <a:solidFill>
            <a:srgbClr val="EFF4F7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4498848"/>
            <a:ext cx="41422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Studies when spoofing-like attacks become detectable or hidden.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38928"/>
            <a:ext cx="282549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5212080"/>
            <a:ext cx="2679191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919" b="1">
                <a:solidFill>
                  <a:srgbClr val="1A2634"/>
                </a:solidFill>
                <a:latin typeface="Aptos"/>
              </a:rPr>
              <a:t>Sathaye et al., 2021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5138928"/>
            <a:ext cx="38313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56432" y="5212080"/>
            <a:ext cx="36850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SemperFi mitigates GPS spoofing using receiver-side signal processing.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5138928"/>
            <a:ext cx="4288536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42631" y="5212080"/>
            <a:ext cx="4142232" cy="51206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96000"/>
              </a:lnSpc>
            </a:pPr>
            <a:r>
              <a:rPr sz="880" b="0">
                <a:solidFill>
                  <a:srgbClr val="596775"/>
                </a:solidFill>
                <a:latin typeface="Aptos"/>
              </a:rPr>
              <a:t>Works above the receiver layer using Digital Twin divergence and rover physics.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Gap In Prior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Existing work is strong, but it leaves a specific opening.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337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93392"/>
            <a:ext cx="293522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Prior CPS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95728"/>
            <a:ext cx="2935224" cy="20756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Often studies detectability, resilient estimation, or replay/false-data attacks in general control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37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1993392"/>
            <a:ext cx="293522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Prior GPS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2395728"/>
            <a:ext cx="2935224" cy="20756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Often focuses on spoofing detection, receiver-side defenses, or autonomous vehicle localization attacks.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828800"/>
            <a:ext cx="3337560" cy="2788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93392"/>
            <a:ext cx="293522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This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395728"/>
            <a:ext cx="2935224" cy="207568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Quantifies mobile Digital Twin trust under coupled physical uncertainty and communication latency.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42062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A2634"/>
                </a:solidFill>
                <a:latin typeface="Aptos"/>
              </a:rPr>
              <a:t>The contribution is the condition-dependent security envelope, not another fixed-threshold spoofing detector.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What Is Novel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project is research-worthy because it reframes the detection problem.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84048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691640"/>
            <a:ext cx="32461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A2634"/>
                </a:solidFill>
                <a:latin typeface="Aptos"/>
              </a:rPr>
              <a:t>Detectability, not only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91640"/>
            <a:ext cx="68122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596775"/>
                </a:solidFill>
                <a:latin typeface="Aptos"/>
              </a:rPr>
              <a:t>It estimates when an attack should become visible instead of only reporting alarm/no alarm.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42032"/>
            <a:ext cx="384048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496312"/>
            <a:ext cx="32461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A2634"/>
                </a:solidFill>
                <a:latin typeface="Aptos"/>
              </a:rPr>
              <a:t>Semantic sensor 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96312"/>
            <a:ext cx="68122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596775"/>
                </a:solidFill>
                <a:latin typeface="Aptos"/>
              </a:rPr>
              <a:t>It treats valid-looking telemetry as potentially physically false.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346704"/>
            <a:ext cx="384048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00984"/>
            <a:ext cx="32461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A2634"/>
                </a:solidFill>
                <a:latin typeface="Aptos"/>
              </a:rPr>
              <a:t>Uncertainty-aware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300984"/>
            <a:ext cx="68122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596775"/>
                </a:solidFill>
                <a:latin typeface="Aptos"/>
              </a:rPr>
              <a:t>It adapts confidence using telemetry conditions such as latency, speed, and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51376"/>
            <a:ext cx="384048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105656"/>
            <a:ext cx="32461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A2634"/>
                </a:solidFill>
                <a:latin typeface="Aptos"/>
              </a:rPr>
              <a:t>Security envelope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05656"/>
            <a:ext cx="68122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596775"/>
                </a:solidFill>
                <a:latin typeface="Aptos"/>
              </a:rPr>
              <a:t>It separates safe, warning, and blind operating regions for sensor trust.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956048"/>
            <a:ext cx="384048" cy="384048"/>
          </a:xfrm>
          <a:prstGeom prst="round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10328"/>
            <a:ext cx="3246120" cy="30175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1A2634"/>
                </a:solidFill>
                <a:latin typeface="Aptos"/>
              </a:rPr>
              <a:t>End-to-end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910328"/>
            <a:ext cx="681228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20" b="0">
                <a:solidFill>
                  <a:srgbClr val="596775"/>
                </a:solidFill>
                <a:latin typeface="Aptos"/>
              </a:rPr>
              <a:t>It connects telemetry packets, rover physics, EKF estimation, attack injection, logging, and plots.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Why T:147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This packet is the single input record that drives the research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92224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Dead reckoning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94560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enc_left and enc_right support tracked-drive calibration and motion estimation.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627632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1792224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Uncertainty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194560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IMU variability, GPS quality, and timing stress feed the adaptive uncertainty logic.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51760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816352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Timing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18688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seq, sample_ms, send_ms, and edge timestamps support packet loss, stale-packet, queue, and latency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651760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816352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Detection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3218688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The same packet replays through the EKF and Mahalanobis detector without changing rover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75888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40480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Bench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42816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The clean July 9 run achieved 379/379 successful cycles, 0 drops, seq 0 -&gt; 378, and GPS valid throughout.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675888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3840480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Detector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4242816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Replay detections stayed at 0; max Mahalanobis remained below threshold while satellites improved 8 -&gt; 11 and HDOP improved 1.48 -&gt; 0.92.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700016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864608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Interpretation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5266944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The packet schema is now good enough to support calibration, benign baselines, and later attack experiments.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4700016"/>
            <a:ext cx="5257800" cy="758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864608"/>
            <a:ext cx="48554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Digital Twin Divergence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5266944"/>
            <a:ext cx="4855464" cy="4571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What Has Been Completed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packet interface is now backed by working tooling and documentation.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93392"/>
            <a:ext cx="21122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F3750"/>
                </a:solidFill>
                <a:latin typeface="Aptos"/>
              </a:rPr>
              <a:t>Embedded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95728"/>
            <a:ext cx="2112264" cy="1664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ugv01_gps_dev is active; BN220 stayed on the original verified RX wiring.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8288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1993392"/>
            <a:ext cx="21122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Bench tooling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2395728"/>
            <a:ext cx="2112264" cy="1664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bench_logger.py records T:147 and adds source/sample, send, arrival, estimate, alarm, packet loss, stale, queue depth, and clock-offset fields.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251460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993392"/>
            <a:ext cx="211226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Replay + 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395728"/>
            <a:ext cx="2112264" cy="1664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Hardware logs replay through the EKF/detector path and now have stationary GPS, latency, and replay-consistency reports.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828800"/>
            <a:ext cx="21488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82328" y="1993392"/>
            <a:ext cx="174650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E9A5B"/>
                </a:solidFill>
                <a:latin typeface="Aptos"/>
              </a:rPr>
              <a:t>Project prep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2328" y="2395728"/>
            <a:ext cx="1746504" cy="1664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Firmware docs, log dictionaries, preregistered protocol, and tracked-rover calibration utilities are already in the repo.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10058400" cy="43891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A2634"/>
                </a:solidFill>
                <a:latin typeface="Aptos"/>
              </a:rPr>
              <a:t>Digital Twin Divergence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What The Future Project Entails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remaining work is a structured validation campaign built on T:147.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>
                <a:solidFill>
                  <a:srgbClr val="596775"/>
                </a:solidFill>
                <a:latin typeface="Aptos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1042416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Battery-powered safety check and confirmation that T:147 behaves correctly under self-powered rover operation.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794760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3959352"/>
            <a:ext cx="25237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CA4B4B"/>
                </a:solidFill>
                <a:latin typeface="Aptos"/>
              </a:rP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4361688"/>
            <a:ext cx="2523744" cy="521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Tracked-drive calibration: left_meters_per_tick, right_meters_per_tick, effective_track_width_m, and heading_sign.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3794760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3959352"/>
            <a:ext cx="25237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4878E"/>
                </a:solidFill>
                <a:latin typeface="Aptos"/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4361688"/>
            <a:ext cx="2523744" cy="521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Benign baseline collection across speed, surface, and latency conditions to define normal detector behavior.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794760"/>
            <a:ext cx="29260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3959352"/>
            <a:ext cx="2523744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4E9A5B"/>
                </a:solidFill>
                <a:latin typeface="Aptos"/>
              </a:rPr>
              <a:t>Phase 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4361688"/>
            <a:ext cx="2523744" cy="5212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596775"/>
                </a:solidFill>
                <a:latin typeface="Aptos"/>
              </a:rPr>
              <a:t>Threshold locking, learned uncertainty comparison, attack trials, and final figures validating the detectability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Immediate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The next milestone is moving from bench telemetry to calibrated motion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1A2634"/>
                </a:solidFill>
                <a:latin typeface="Aptos Display"/>
              </a:rPr>
              <a:t>Install batteries and run the first lifted-track safety test.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10332720" cy="22860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Verify T:147 under self-powered operation: seq, GPS, IMU, encoder, and stop behavior.</a:t>
            </a:r>
          </a:p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Collect straight-line and in-place turn calibration runs from the same telemetry packet.</a:t>
            </a:r>
          </a:p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Begin benign field runs after calibration is locked.</a:t>
            </a:r>
          </a:p>
          <a:p>
            <a:pPr>
              <a:spcAft>
                <a:spcPts val="800"/>
              </a:spcAft>
              <a:defRPr sz="1700">
                <a:solidFill>
                  <a:srgbClr val="1A2634"/>
                </a:solidFill>
                <a:latin typeface="Aptos"/>
              </a:defRPr>
            </a:pPr>
            <a:r>
              <a:t>Takeaway: the packet schema is in place, the bench path is working, and the rest of the project is now an experimental validation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20624"/>
            <a:ext cx="10698480" cy="6858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A2634"/>
                </a:solidFill>
                <a:latin typeface="Aptos Display"/>
              </a:rPr>
              <a:t>Literature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069848"/>
            <a:ext cx="9875520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>
                <a:solidFill>
                  <a:srgbClr val="596775"/>
                </a:solidFill>
                <a:latin typeface="Aptos"/>
              </a:rPr>
              <a:t>Sources used for the five-paper survey.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" y="1490472"/>
            <a:ext cx="1051560" cy="45720"/>
          </a:xfrm>
          <a:prstGeom prst="rect">
            <a:avLst/>
          </a:prstGeom>
          <a:solidFill>
            <a:srgbClr val="14878E"/>
          </a:solidFill>
          <a:ln>
            <a:solidFill>
              <a:srgbClr val="1487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10835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167128"/>
            <a:ext cx="10433304" cy="-914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A2634"/>
                </a:solidFill>
                <a:latin typeface="Aptos"/>
              </a:rPr>
              <a:t>Pasqualetti, F.; Dorfler, F.; Bullo, F. Attack Detection and Identification in Cyber-Physical Systems. IEEE TAC, 2013. https://arxiv.org/abs/1202.6144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41448"/>
            <a:ext cx="10835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008376"/>
            <a:ext cx="10433304" cy="-914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A2634"/>
                </a:solidFill>
                <a:latin typeface="Aptos"/>
              </a:rPr>
              <a:t>Fawzi, H.; Tabuada, P.; Diggavi, S. Secure Estimation and Control for CPS Under Adversarial Attacks. IEEE TAC, 2014. https://arxiv.org/abs/1205.5073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82696"/>
            <a:ext cx="10835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849624"/>
            <a:ext cx="10433304" cy="-914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A2634"/>
                </a:solidFill>
                <a:latin typeface="Aptos"/>
              </a:rPr>
              <a:t>Satchidanandan, B.; Kumar, P. R. Dynamic Watermarking: Active Defense of Networked CPS. https://arxiv.org/abs/1606.08741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23944"/>
            <a:ext cx="10835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690872"/>
            <a:ext cx="10433304" cy="-914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A2634"/>
                </a:solidFill>
                <a:latin typeface="Aptos"/>
              </a:rPr>
              <a:t>Shen, J.; Won, J. Y.; Chen, Z.; Chen, Q. A. Drift with Devil: GPS Spoofing Against Multi-Sensor Fusion Localization. https://arxiv.org/abs/2006.10318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965192"/>
            <a:ext cx="108356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532120"/>
            <a:ext cx="10433304" cy="-91439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1A2634"/>
                </a:solidFill>
                <a:latin typeface="Aptos"/>
              </a:rPr>
              <a:t>Sathaye, H.; LaMountain, G.; Closas, P.; Ranganathan, A. SemperFi: A Spoofer Eliminating GPS Receiver for UAVs. https://arxiv.org/abs/2105.01860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6455664"/>
            <a:ext cx="4754880" cy="2011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96775"/>
                </a:solidFill>
                <a:latin typeface="Aptos"/>
              </a:rPr>
              <a:t>Digital Twin Divergence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